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SESSION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Build, Style &amp; Create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 Website </a:t>
            </a:r>
            <a:pPr indent="0" marL="0">
              <a:buNone/>
            </a:pPr>
            <a:r>
              <a:rPr lang="en-US" sz="1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HTML + CSS Project Challenge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WILL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6035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450" b="1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website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450" b="1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HTML structure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450" b="1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CSS styling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450" b="1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sections and cards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450" b="1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images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450" b="1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spacing and layout</a:t>
            </a:r>
            <a:endParaRPr lang="en-US" sz="145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450" b="1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portfolio-ready mini project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0" y="3108960"/>
            <a:ext cx="4754880" cy="2880360"/>
          </a:xfrm>
          <a:prstGeom prst="roundRect">
            <a:avLst>
              <a:gd name="adj" fmla="val 3175"/>
            </a:avLst>
          </a:prstGeom>
          <a:solidFill>
            <a:srgbClr val="1F2340"/>
          </a:solidFill>
          <a:ln/>
        </p:spPr>
      </p:sp>
      <p:sp>
        <p:nvSpPr>
          <p:cNvPr id="8" name="Text 6"/>
          <p:cNvSpPr/>
          <p:nvPr/>
        </p:nvSpPr>
        <p:spPr>
          <a:xfrm>
            <a:off x="7114032" y="3255264"/>
            <a:ext cx="4242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14032" y="3529584"/>
            <a:ext cx="4242816" cy="2313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simple HTML page into a website that looks like a real product website.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F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Have Learned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far, we have learned how to use: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7F6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Paragraphs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Divs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7F6FC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sizes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Backgrounds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Borders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radius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1350" dirty="0"/>
          </a:p>
          <a:p>
            <a:pPr marL="228600" indent="-228600">
              <a:spcAft>
                <a:spcPts val="650"/>
              </a:spcAft>
              <a:buSzPct val="100000"/>
              <a:buChar char="▪"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layouts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</a:t>
            </a:r>
            <a:pPr indent="0" marL="0">
              <a:buNone/>
            </a:pPr>
            <a:r>
              <a:rPr lang="en-US" sz="1500" i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going to combine these skills.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Mission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35728" cy="3566160"/>
          </a:xfrm>
          <a:prstGeom prst="roundRect">
            <a:avLst>
              <a:gd name="adj" fmla="val 3077"/>
            </a:avLst>
          </a:prstGeom>
          <a:solidFill>
            <a:srgbClr val="F7F6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513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GOING FROM THIS...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58708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94096" y="3209544"/>
            <a:ext cx="603504" cy="27432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6507328" y="1737360"/>
            <a:ext cx="5135728" cy="3566160"/>
          </a:xfrm>
          <a:prstGeom prst="roundRect">
            <a:avLst>
              <a:gd name="adj" fmla="val 3077"/>
            </a:avLst>
          </a:prstGeom>
          <a:solidFill>
            <a:srgbClr val="6C5CE7"/>
          </a:solidFill>
          <a:ln/>
        </p:spPr>
      </p:sp>
      <p:sp>
        <p:nvSpPr>
          <p:cNvPr id="9" name="Text 7"/>
          <p:cNvSpPr/>
          <p:nvPr/>
        </p:nvSpPr>
        <p:spPr>
          <a:xfrm>
            <a:off x="6507328" y="1371600"/>
            <a:ext cx="513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...TO THIS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81648" y="1965960"/>
            <a:ext cx="458708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heading, text, button, image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card, card, card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— text + image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 — button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4864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EFECFD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5632704"/>
            <a:ext cx="105823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5907024"/>
            <a:ext cx="10582351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something that looks like a real website, not just a coding exercise.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· TODAY'S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We Will Build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TechNova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Technology Product Website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build a fictional technology company called TechNova.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SECTIONS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2779776" cy="762000"/>
          </a:xfrm>
          <a:prstGeom prst="roundRect">
            <a:avLst>
              <a:gd name="adj" fmla="val 12000"/>
            </a:avLst>
          </a:prstGeom>
          <a:solidFill>
            <a:srgbClr val="F7F6FC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352958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3529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493008"/>
            <a:ext cx="1975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29584" y="3383280"/>
            <a:ext cx="2779776" cy="762000"/>
          </a:xfrm>
          <a:prstGeom prst="roundRect">
            <a:avLst>
              <a:gd name="adj" fmla="val 12000"/>
            </a:avLst>
          </a:prstGeom>
          <a:solidFill>
            <a:srgbClr val="F7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3694176" y="352958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3694176" y="3529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69664" y="3493008"/>
            <a:ext cx="1975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28160"/>
            <a:ext cx="2779776" cy="762000"/>
          </a:xfrm>
          <a:prstGeom prst="roundRect">
            <a:avLst>
              <a:gd name="adj" fmla="val 12000"/>
            </a:avLst>
          </a:prstGeom>
          <a:solidFill>
            <a:srgbClr val="F7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447446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474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437888"/>
            <a:ext cx="1975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29584" y="4328160"/>
            <a:ext cx="2779776" cy="762000"/>
          </a:xfrm>
          <a:prstGeom prst="roundRect">
            <a:avLst>
              <a:gd name="adj" fmla="val 12000"/>
            </a:avLst>
          </a:prstGeom>
          <a:solidFill>
            <a:srgbClr val="F7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3694176" y="447446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2" name="Text 20"/>
          <p:cNvSpPr/>
          <p:nvPr/>
        </p:nvSpPr>
        <p:spPr>
          <a:xfrm>
            <a:off x="3694176" y="4474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69664" y="4437888"/>
            <a:ext cx="1975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273040"/>
            <a:ext cx="2779776" cy="762000"/>
          </a:xfrm>
          <a:prstGeom prst="roundRect">
            <a:avLst>
              <a:gd name="adj" fmla="val 12000"/>
            </a:avLst>
          </a:prstGeom>
          <a:solidFill>
            <a:srgbClr val="F7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541934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419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5382768"/>
            <a:ext cx="1975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29584" y="5273040"/>
            <a:ext cx="2779776" cy="762000"/>
          </a:xfrm>
          <a:prstGeom prst="roundRect">
            <a:avLst>
              <a:gd name="adj" fmla="val 12000"/>
            </a:avLst>
          </a:prstGeom>
          <a:solidFill>
            <a:srgbClr val="F7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3694176" y="541934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0" name="Text 28"/>
          <p:cNvSpPr/>
          <p:nvPr/>
        </p:nvSpPr>
        <p:spPr>
          <a:xfrm>
            <a:off x="3694176" y="5419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69664" y="5382768"/>
            <a:ext cx="1975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F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0" y="137160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1F2340"/>
          </a:solidFill>
          <a:ln/>
        </p:spPr>
      </p:sp>
      <p:sp>
        <p:nvSpPr>
          <p:cNvPr id="35" name="Text 33"/>
          <p:cNvSpPr/>
          <p:nvPr/>
        </p:nvSpPr>
        <p:spPr>
          <a:xfrm>
            <a:off x="7114032" y="1517904"/>
            <a:ext cx="4242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14032" y="1792224"/>
            <a:ext cx="424281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using JavaScript today. Everything will be built using HTML + CSS.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858000" y="2971800"/>
            <a:ext cx="4754880" cy="3063240"/>
          </a:xfrm>
          <a:prstGeom prst="roundRect">
            <a:avLst>
              <a:gd name="adj" fmla="val 3582"/>
            </a:avLst>
          </a:prstGeom>
          <a:solidFill>
            <a:srgbClr val="1F2340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0" y="2971800"/>
            <a:ext cx="4206240" cy="510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132320" y="3482340"/>
            <a:ext cx="4206240" cy="510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7132320" y="3482340"/>
            <a:ext cx="4206240" cy="0"/>
          </a:xfrm>
          <a:prstGeom prst="line">
            <a:avLst/>
          </a:prstGeom>
          <a:noFill/>
          <a:ln w="12700">
            <a:solidFill>
              <a:srgbClr val="2B2F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3992880"/>
            <a:ext cx="4206240" cy="510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7132320" y="3992880"/>
            <a:ext cx="4206240" cy="0"/>
          </a:xfrm>
          <a:prstGeom prst="line">
            <a:avLst/>
          </a:prstGeom>
          <a:noFill/>
          <a:ln w="12700">
            <a:solidFill>
              <a:srgbClr val="2B2F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4503420"/>
            <a:ext cx="4206240" cy="510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7132320" y="4503420"/>
            <a:ext cx="4206240" cy="0"/>
          </a:xfrm>
          <a:prstGeom prst="line">
            <a:avLst/>
          </a:prstGeom>
          <a:noFill/>
          <a:ln w="12700">
            <a:solidFill>
              <a:srgbClr val="2B2F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0" y="5013960"/>
            <a:ext cx="4206240" cy="510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7132320" y="5013960"/>
            <a:ext cx="4206240" cy="0"/>
          </a:xfrm>
          <a:prstGeom prst="line">
            <a:avLst/>
          </a:prstGeom>
          <a:noFill/>
          <a:ln w="12700">
            <a:solidFill>
              <a:srgbClr val="2B2F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0" y="5524500"/>
            <a:ext cx="4206240" cy="510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7132320" y="5524500"/>
            <a:ext cx="4206240" cy="0"/>
          </a:xfrm>
          <a:prstGeom prst="line">
            <a:avLst/>
          </a:prstGeom>
          <a:noFill/>
          <a:ln w="12700">
            <a:solidFill>
              <a:srgbClr val="2B2F5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· OBSERVE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the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students a landing-page reference before coding.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them: What can you see?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788920" cy="627278"/>
          </a:xfrm>
          <a:prstGeom prst="roundRect">
            <a:avLst>
              <a:gd name="adj" fmla="val 11662"/>
            </a:avLst>
          </a:prstGeom>
          <a:solidFill>
            <a:srgbClr val="F7F6FC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148840"/>
            <a:ext cx="2642616" cy="627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520440" y="2148840"/>
            <a:ext cx="2788920" cy="627278"/>
          </a:xfrm>
          <a:prstGeom prst="roundRect">
            <a:avLst>
              <a:gd name="adj" fmla="val 11662"/>
            </a:avLst>
          </a:prstGeom>
          <a:solidFill>
            <a:srgbClr val="F7F6FC"/>
          </a:solidFill>
          <a:ln/>
        </p:spPr>
      </p:sp>
      <p:sp>
        <p:nvSpPr>
          <p:cNvPr id="9" name="Text 7"/>
          <p:cNvSpPr/>
          <p:nvPr/>
        </p:nvSpPr>
        <p:spPr>
          <a:xfrm>
            <a:off x="3593592" y="2148840"/>
            <a:ext cx="2642616" cy="627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40710"/>
            <a:ext cx="2788920" cy="627278"/>
          </a:xfrm>
          <a:prstGeom prst="roundRect">
            <a:avLst>
              <a:gd name="adj" fmla="val 11662"/>
            </a:avLst>
          </a:prstGeom>
          <a:solidFill>
            <a:srgbClr val="F7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940710"/>
            <a:ext cx="2642616" cy="627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heading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520440" y="2940710"/>
            <a:ext cx="2788920" cy="627278"/>
          </a:xfrm>
          <a:prstGeom prst="roundRect">
            <a:avLst>
              <a:gd name="adj" fmla="val 11662"/>
            </a:avLst>
          </a:prstGeom>
          <a:solidFill>
            <a:srgbClr val="F7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940710"/>
            <a:ext cx="2642616" cy="627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32581"/>
            <a:ext cx="2788920" cy="627278"/>
          </a:xfrm>
          <a:prstGeom prst="roundRect">
            <a:avLst>
              <a:gd name="adj" fmla="val 11662"/>
            </a:avLst>
          </a:prstGeom>
          <a:solidFill>
            <a:srgbClr val="F7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3732581"/>
            <a:ext cx="2642616" cy="627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520440" y="3732581"/>
            <a:ext cx="2788920" cy="627278"/>
          </a:xfrm>
          <a:prstGeom prst="roundRect">
            <a:avLst>
              <a:gd name="adj" fmla="val 11662"/>
            </a:avLst>
          </a:prstGeom>
          <a:solidFill>
            <a:srgbClr val="F7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3593592" y="3732581"/>
            <a:ext cx="2642616" cy="627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524451"/>
            <a:ext cx="2788920" cy="627278"/>
          </a:xfrm>
          <a:prstGeom prst="roundRect">
            <a:avLst>
              <a:gd name="adj" fmla="val 11662"/>
            </a:avLst>
          </a:prstGeom>
          <a:solidFill>
            <a:srgbClr val="F7F6FC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4524451"/>
            <a:ext cx="2642616" cy="627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520440" y="4524451"/>
            <a:ext cx="2788920" cy="627278"/>
          </a:xfrm>
          <a:prstGeom prst="roundRect">
            <a:avLst>
              <a:gd name="adj" fmla="val 11662"/>
            </a:avLst>
          </a:prstGeom>
          <a:solidFill>
            <a:srgbClr val="F7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3593592" y="4524451"/>
            <a:ext cx="2642616" cy="627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sections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316322"/>
            <a:ext cx="2788920" cy="627278"/>
          </a:xfrm>
          <a:prstGeom prst="roundRect">
            <a:avLst>
              <a:gd name="adj" fmla="val 11662"/>
            </a:avLst>
          </a:prstGeom>
          <a:solidFill>
            <a:srgbClr val="F7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5316322"/>
            <a:ext cx="2642616" cy="627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colours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520440" y="5316322"/>
            <a:ext cx="2788920" cy="627278"/>
          </a:xfrm>
          <a:prstGeom prst="roundRect">
            <a:avLst>
              <a:gd name="adj" fmla="val 11662"/>
            </a:avLst>
          </a:prstGeom>
          <a:solidFill>
            <a:srgbClr val="F7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3593592" y="5316322"/>
            <a:ext cx="2642616" cy="627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37960" y="214884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EFECFD"/>
          </a:solidFill>
          <a:ln/>
        </p:spPr>
      </p:sp>
      <p:sp>
        <p:nvSpPr>
          <p:cNvPr id="27" name="Text 25"/>
          <p:cNvSpPr/>
          <p:nvPr/>
        </p:nvSpPr>
        <p:spPr>
          <a:xfrm>
            <a:off x="6793992" y="2295144"/>
            <a:ext cx="4608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93992" y="2569464"/>
            <a:ext cx="4608576" cy="3227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we wanted to build this with HTML and CSS, what would we need?”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them answer before showing the structure.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·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the Website Into Parts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professional-looking website is usually made from smaller sections.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949440" cy="4160520"/>
          </a:xfrm>
          <a:prstGeom prst="roundRect">
            <a:avLst>
              <a:gd name="adj" fmla="val 2637"/>
            </a:avLst>
          </a:prstGeom>
          <a:solidFill>
            <a:srgbClr val="14162A"/>
          </a:solidFill>
          <a:ln/>
          <a:effectLst>
            <a:outerShdw sx="100000" sy="100000" kx="0" ky="0" algn="bl" rotWithShape="0" blurRad="127000" dist="50800" dir="5400000">
              <a:srgbClr val="6C5CE7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202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9202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9202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240280"/>
            <a:ext cx="63642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Navigation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&lt;section&gt;Hero&lt;/section&gt;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&lt;section&gt;Features&lt;/section&gt;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&lt;section&gt;About&lt;/section&gt;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&lt;section&gt;Call to Action&lt;/section&gt;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Footer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&lt;/footer&gt;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80960" y="1737360"/>
            <a:ext cx="3977640" cy="1737360"/>
          </a:xfrm>
          <a:prstGeom prst="roundRect">
            <a:avLst>
              <a:gd name="adj" fmla="val 5263"/>
            </a:avLst>
          </a:prstGeom>
          <a:solidFill>
            <a:srgbClr val="EFECFD"/>
          </a:solidFill>
          <a:ln/>
        </p:spPr>
      </p:sp>
      <p:sp>
        <p:nvSpPr>
          <p:cNvPr id="11" name="Text 9"/>
          <p:cNvSpPr/>
          <p:nvPr/>
        </p:nvSpPr>
        <p:spPr>
          <a:xfrm>
            <a:off x="7936992" y="1883664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36992" y="2157984"/>
            <a:ext cx="346557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websites are built from small pieces.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80960" y="3657600"/>
            <a:ext cx="3977640" cy="2240280"/>
          </a:xfrm>
          <a:prstGeom prst="roundRect">
            <a:avLst>
              <a:gd name="adj" fmla="val 4082"/>
            </a:avLst>
          </a:prstGeom>
          <a:solidFill>
            <a:srgbClr val="F7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7936992" y="3803904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36992" y="4078224"/>
            <a:ext cx="3465576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— header, section, footer — has one clear job.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· HEADER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Navigation — the top of the website will contain: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  <a:effectLst>
            <a:outerShdw sx="100000" sy="100000" kx="0" ky="0" algn="bl" rotWithShape="0" blurRad="127000" dist="38100" dir="5400000">
              <a:srgbClr val="6C5CE7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373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TechNova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26080" y="17373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   Features      About      Contact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6949440" cy="1965960"/>
          </a:xfrm>
          <a:prstGeom prst="roundRect">
            <a:avLst>
              <a:gd name="adj" fmla="val 5581"/>
            </a:avLst>
          </a:prstGeom>
          <a:solidFill>
            <a:srgbClr val="14162A"/>
          </a:solidFill>
          <a:ln/>
          <a:effectLst>
            <a:outerShdw sx="100000" sy="100000" kx="0" ky="0" algn="bl" rotWithShape="0" blurRad="127000" dist="50800" dir="5400000">
              <a:srgbClr val="6C5CE7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30632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" y="30632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30632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383280"/>
            <a:ext cx="6364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TechNova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href="#features"&gt;Features&lt;/a&gt;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80960" y="173736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FECFD"/>
          </a:solidFill>
          <a:ln/>
        </p:spPr>
      </p:sp>
      <p:sp>
        <p:nvSpPr>
          <p:cNvPr id="14" name="Text 12"/>
          <p:cNvSpPr/>
          <p:nvPr/>
        </p:nvSpPr>
        <p:spPr>
          <a:xfrm>
            <a:off x="7936992" y="1883664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ALREADY KNOW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36992" y="2157984"/>
            <a:ext cx="3465576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use &lt;nav&gt; to group navigation links, and &lt;a href="#id"&gt; to create a clickable link.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80960" y="34747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7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7936992" y="3621024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IDEA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36992" y="3895344"/>
            <a:ext cx="346557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navigation can take users to different sections of the same page.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· FIRST IMPRESSION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 Section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thing visitors see.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943600" cy="2514600"/>
          </a:xfrm>
          <a:prstGeom prst="roundRect">
            <a:avLst>
              <a:gd name="adj" fmla="val 4364"/>
            </a:avLst>
          </a:prstGeom>
          <a:solidFill>
            <a:srgbClr val="F7F6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Better. Create Faster.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48716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that helps young creators turn ideas into real projects.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063240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6324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306324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on the right →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5943600" cy="1965960"/>
          </a:xfrm>
          <a:prstGeom prst="roundRect">
            <a:avLst>
              <a:gd name="adj" fmla="val 5581"/>
            </a:avLst>
          </a:prstGeom>
          <a:solidFill>
            <a:srgbClr val="14162A"/>
          </a:solidFill>
          <a:ln/>
          <a:effectLst>
            <a:outerShdw sx="100000" sy="100000" kx="0" ky="0" algn="bl" rotWithShape="0" blurRad="127000" dist="50800" dir="5400000">
              <a:srgbClr val="6C5CE7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457200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" y="457200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457200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892040"/>
            <a:ext cx="5358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Heading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Paragraph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Link / Button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20840" y="1737360"/>
            <a:ext cx="4937760" cy="1737360"/>
          </a:xfrm>
          <a:prstGeom prst="roundRect">
            <a:avLst>
              <a:gd name="adj" fmla="val 5263"/>
            </a:avLst>
          </a:prstGeom>
          <a:solidFill>
            <a:srgbClr val="EFECFD"/>
          </a:solidFill>
          <a:ln/>
        </p:spPr>
      </p:sp>
      <p:sp>
        <p:nvSpPr>
          <p:cNvPr id="17" name="Text 15"/>
          <p:cNvSpPr/>
          <p:nvPr/>
        </p:nvSpPr>
        <p:spPr>
          <a:xfrm>
            <a:off x="6976872" y="1883664"/>
            <a:ext cx="4425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STRUCTURE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76872" y="2157984"/>
            <a:ext cx="442569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hero section pairs a heading and paragraph with a call-to-action link and a supporting image.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720840" y="3657600"/>
            <a:ext cx="4937760" cy="2240280"/>
          </a:xfrm>
          <a:prstGeom prst="roundRect">
            <a:avLst>
              <a:gd name="adj" fmla="val 4082"/>
            </a:avLst>
          </a:prstGeom>
          <a:solidFill>
            <a:srgbClr val="F7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6976872" y="3803904"/>
            <a:ext cx="4425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76872" y="4078224"/>
            <a:ext cx="4425696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most important information easy to see.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· STYLING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Challenge: The Hero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style: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859280" cy="809244"/>
          </a:xfrm>
          <a:prstGeom prst="roundRect">
            <a:avLst>
              <a:gd name="adj" fmla="val 9040"/>
            </a:avLst>
          </a:prstGeom>
          <a:solidFill>
            <a:srgbClr val="F7F6FC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645920"/>
            <a:ext cx="1712976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90800" y="1645920"/>
            <a:ext cx="1859280" cy="809244"/>
          </a:xfrm>
          <a:prstGeom prst="roundRect">
            <a:avLst>
              <a:gd name="adj" fmla="val 9040"/>
            </a:avLst>
          </a:prstGeom>
          <a:solidFill>
            <a:srgbClr val="F7F6FC"/>
          </a:solidFill>
          <a:ln/>
        </p:spPr>
      </p:sp>
      <p:sp>
        <p:nvSpPr>
          <p:cNvPr id="8" name="Text 6"/>
          <p:cNvSpPr/>
          <p:nvPr/>
        </p:nvSpPr>
        <p:spPr>
          <a:xfrm>
            <a:off x="2663952" y="1645920"/>
            <a:ext cx="1712976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32960" y="1645920"/>
            <a:ext cx="1859280" cy="809244"/>
          </a:xfrm>
          <a:prstGeom prst="roundRect">
            <a:avLst>
              <a:gd name="adj" fmla="val 9040"/>
            </a:avLst>
          </a:prstGeom>
          <a:solidFill>
            <a:srgbClr val="F7F6FC"/>
          </a:solidFill>
          <a:ln/>
        </p:spPr>
      </p:sp>
      <p:sp>
        <p:nvSpPr>
          <p:cNvPr id="10" name="Text 8"/>
          <p:cNvSpPr/>
          <p:nvPr/>
        </p:nvSpPr>
        <p:spPr>
          <a:xfrm>
            <a:off x="4706112" y="1645920"/>
            <a:ext cx="1712976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19756"/>
            <a:ext cx="1859280" cy="809244"/>
          </a:xfrm>
          <a:prstGeom prst="roundRect">
            <a:avLst>
              <a:gd name="adj" fmla="val 9040"/>
            </a:avLst>
          </a:prstGeom>
          <a:solidFill>
            <a:srgbClr val="F7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619756"/>
            <a:ext cx="1712976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90800" y="2619756"/>
            <a:ext cx="1859280" cy="809244"/>
          </a:xfrm>
          <a:prstGeom prst="roundRect">
            <a:avLst>
              <a:gd name="adj" fmla="val 9040"/>
            </a:avLst>
          </a:prstGeom>
          <a:solidFill>
            <a:srgbClr val="F7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2663952" y="2619756"/>
            <a:ext cx="1712976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32960" y="2619756"/>
            <a:ext cx="1859280" cy="809244"/>
          </a:xfrm>
          <a:prstGeom prst="roundRect">
            <a:avLst>
              <a:gd name="adj" fmla="val 9040"/>
            </a:avLst>
          </a:prstGeom>
          <a:solidFill>
            <a:srgbClr val="F7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4706112" y="2619756"/>
            <a:ext cx="1712976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5943600" cy="2423160"/>
          </a:xfrm>
          <a:prstGeom prst="roundRect">
            <a:avLst>
              <a:gd name="adj" fmla="val 4528"/>
            </a:avLst>
          </a:prstGeom>
          <a:solidFill>
            <a:srgbClr val="14162A"/>
          </a:solidFill>
          <a:ln/>
          <a:effectLst>
            <a:outerShdw sx="100000" sy="100000" kx="0" ky="0" algn="bl" rotWithShape="0" blurRad="127000" dist="50800" dir="5400000">
              <a:srgbClr val="6C5CE7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379476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969264" y="379476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" y="379476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114800"/>
            <a:ext cx="5358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720840" y="1645920"/>
            <a:ext cx="4937760" cy="1737360"/>
          </a:xfrm>
          <a:prstGeom prst="roundRect">
            <a:avLst>
              <a:gd name="adj" fmla="val 5263"/>
            </a:avLst>
          </a:prstGeom>
          <a:solidFill>
            <a:srgbClr val="EFECFD"/>
          </a:solidFill>
          <a:ln/>
        </p:spPr>
      </p:sp>
      <p:sp>
        <p:nvSpPr>
          <p:cNvPr id="23" name="Text 21"/>
          <p:cNvSpPr/>
          <p:nvPr/>
        </p:nvSpPr>
        <p:spPr>
          <a:xfrm>
            <a:off x="6976872" y="1792224"/>
            <a:ext cx="4425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76872" y="2066544"/>
            <a:ext cx="442569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properties on the left, one at a time, and reload the page.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720840" y="3566160"/>
            <a:ext cx="4937760" cy="2468880"/>
          </a:xfrm>
          <a:prstGeom prst="roundRect">
            <a:avLst>
              <a:gd name="adj" fmla="val 3704"/>
            </a:avLst>
          </a:prstGeom>
          <a:solidFill>
            <a:srgbClr val="F7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6976872" y="3712464"/>
            <a:ext cx="4425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76872" y="3986784"/>
            <a:ext cx="4425696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happens when I change this value?”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·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TechNova Offers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three cards: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15258" cy="384048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  <a:effectLst>
            <a:outerShdw sx="100000" sy="100000" kx="0" ky="0" algn="bl" rotWithShape="0" blurRad="152400" dist="50800" dir="5400000">
              <a:srgbClr val="6C5CE7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2670048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6384" y="3054096"/>
            <a:ext cx="305805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ideas quickly.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8218" y="1828800"/>
            <a:ext cx="3515258" cy="384048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  <a:effectLst>
            <a:outerShdw sx="100000" sy="100000" kx="0" ky="0" algn="bl" rotWithShape="0" blurRad="152400" dist="50800" dir="5400000">
              <a:srgbClr val="6C5CE7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4250" y="2084832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4594250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5962" y="2670048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5962" y="3054096"/>
            <a:ext cx="305805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tools for creators.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27797" y="1828800"/>
            <a:ext cx="3515258" cy="384048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  <a:effectLst>
            <a:outerShdw sx="100000" sy="100000" kx="0" ky="0" algn="bl" rotWithShape="0" blurRad="152400" dist="50800" dir="5400000">
              <a:srgbClr val="6C5CE7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3829" y="2084832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7" name="Text 15"/>
          <p:cNvSpPr/>
          <p:nvPr/>
        </p:nvSpPr>
        <p:spPr>
          <a:xfrm>
            <a:off x="8383829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5541" y="2670048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Powerful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5541" y="3054096"/>
            <a:ext cx="305805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that grows with your ideas.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· ANATOMY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contains: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53796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  <a:effectLst>
            <a:outerShdw sx="100000" sy="100000" kx="0" ky="0" algn="bl" rotWithShape="0" blurRad="152400" dist="50800" dir="5400000">
              <a:srgbClr val="6C5CE7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3852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projects faster with simple tools designed for creators.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6537960" cy="1920240"/>
          </a:xfrm>
          <a:prstGeom prst="roundRect">
            <a:avLst>
              <a:gd name="adj" fmla="val 5714"/>
            </a:avLst>
          </a:prstGeom>
          <a:solidFill>
            <a:srgbClr val="14162A"/>
          </a:solidFill>
          <a:ln/>
          <a:effectLst>
            <a:outerShdw sx="100000" sy="100000" kx="0" ky="0" algn="bl" rotWithShape="0" blurRad="127000" dist="50800" dir="5400000">
              <a:srgbClr val="6C5CE7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438912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" y="438912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438912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4709160"/>
            <a:ext cx="5952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box-shadow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60920" y="1737360"/>
            <a:ext cx="4279392" cy="1188720"/>
          </a:xfrm>
          <a:prstGeom prst="roundRect">
            <a:avLst>
              <a:gd name="adj" fmla="val 7692"/>
            </a:avLst>
          </a:prstGeom>
          <a:solidFill>
            <a:srgbClr val="EFECFD"/>
          </a:solidFill>
          <a:ln/>
        </p:spPr>
      </p:sp>
      <p:sp>
        <p:nvSpPr>
          <p:cNvPr id="15" name="Text 13"/>
          <p:cNvSpPr/>
          <p:nvPr/>
        </p:nvSpPr>
        <p:spPr>
          <a:xfrm>
            <a:off x="7616952" y="188366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CONTENTS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16952" y="2157984"/>
            <a:ext cx="376732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→ short description → a “Learn More” link.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60920" y="3063240"/>
            <a:ext cx="4279392" cy="1600200"/>
          </a:xfrm>
          <a:prstGeom prst="roundRect">
            <a:avLst>
              <a:gd name="adj" fmla="val 5714"/>
            </a:avLst>
          </a:prstGeom>
          <a:solidFill>
            <a:srgbClr val="F7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7616952" y="320954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PROPERTIES WE CAN PRACTISE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16952" y="3483864"/>
            <a:ext cx="3767328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padding, margin, border, border-radius, and box-shadow to give each card its own personality.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60920" y="4800600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FECFD"/>
          </a:solidFill>
          <a:ln/>
        </p:spPr>
      </p:sp>
      <p:sp>
        <p:nvSpPr>
          <p:cNvPr id="21" name="Text 19"/>
          <p:cNvSpPr/>
          <p:nvPr/>
        </p:nvSpPr>
        <p:spPr>
          <a:xfrm>
            <a:off x="7616952" y="494690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16952" y="5221224"/>
            <a:ext cx="3767328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all three cards look consistent.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· FLEXBOX INTRO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Layout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Initially, the cards may appear: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7F6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7F6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219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43784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7F6F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437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17520" y="2148840"/>
            <a:ext cx="594360" cy="27432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86200" y="1737360"/>
            <a:ext cx="731520" cy="502920"/>
          </a:xfrm>
          <a:prstGeom prst="roundRect">
            <a:avLst>
              <a:gd name="adj" fmla="val 14545"/>
            </a:avLst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3886200" y="1737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731520" cy="502920"/>
          </a:xfrm>
          <a:prstGeom prst="roundRect">
            <a:avLst>
              <a:gd name="adj" fmla="val 14545"/>
            </a:avLst>
          </a:prstGeom>
          <a:solidFill>
            <a:srgbClr val="6C5CE7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37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23560" y="1737360"/>
            <a:ext cx="731520" cy="502920"/>
          </a:xfrm>
          <a:prstGeom prst="roundRect">
            <a:avLst>
              <a:gd name="adj" fmla="val 14545"/>
            </a:avLst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5623560" y="17373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14162A"/>
          </a:solidFill>
          <a:ln/>
          <a:effectLst>
            <a:outerShdw sx="100000" sy="100000" kx="0" ky="0" algn="bl" rotWithShape="0" blurRad="127000" dist="50800" dir="5400000">
              <a:srgbClr val="6C5CE7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70332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9"/>
          <p:cNvSpPr/>
          <p:nvPr/>
        </p:nvSpPr>
        <p:spPr>
          <a:xfrm>
            <a:off x="969264" y="370332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88720" y="370332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4023360"/>
            <a:ext cx="4901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flex;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gap: 20px;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EFECFD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5266944"/>
            <a:ext cx="4974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5541264"/>
            <a:ext cx="497433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CSS help us place things beside each other?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0" y="1234440"/>
            <a:ext cx="5257800" cy="5074920"/>
          </a:xfrm>
          <a:prstGeom prst="roundRect">
            <a:avLst>
              <a:gd name="adj" fmla="val 1802"/>
            </a:avLst>
          </a:prstGeom>
          <a:solidFill>
            <a:srgbClr val="EFECFD"/>
          </a:solidFill>
          <a:ln/>
        </p:spPr>
      </p:sp>
      <p:sp>
        <p:nvSpPr>
          <p:cNvPr id="28" name="Text 26"/>
          <p:cNvSpPr/>
          <p:nvPr/>
        </p:nvSpPr>
        <p:spPr>
          <a:xfrm>
            <a:off x="6656832" y="1380744"/>
            <a:ext cx="4745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FLEXBOX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56832" y="1655064"/>
            <a:ext cx="4745736" cy="4507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“display: flex” helps us arrange elements in a row or column. “gap” creates space between them.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basics today.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· COMPANY 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Section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visitor about the company.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7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Should Be Easy to Understand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helps young creators learn technology by building real projects.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the best way to learn technology is to create something useful.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60520" y="1737360"/>
            <a:ext cx="2926080" cy="3200400"/>
          </a:xfrm>
          <a:prstGeom prst="roundRect">
            <a:avLst>
              <a:gd name="adj" fmla="val 3750"/>
            </a:avLst>
          </a:prstGeom>
          <a:solidFill>
            <a:srgbClr val="6C5CE7"/>
          </a:solidFill>
          <a:ln/>
        </p:spPr>
      </p:sp>
      <p:sp>
        <p:nvSpPr>
          <p:cNvPr id="10" name="Text 8"/>
          <p:cNvSpPr/>
          <p:nvPr/>
        </p:nvSpPr>
        <p:spPr>
          <a:xfrm>
            <a:off x="4160520" y="173736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074920"/>
            <a:ext cx="6537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                   IMAGE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60920" y="1737360"/>
            <a:ext cx="4279392" cy="1554480"/>
          </a:xfrm>
          <a:prstGeom prst="roundRect">
            <a:avLst>
              <a:gd name="adj" fmla="val 5882"/>
            </a:avLst>
          </a:prstGeom>
          <a:solidFill>
            <a:srgbClr val="EFECFD"/>
          </a:solidFill>
          <a:ln/>
        </p:spPr>
      </p:sp>
      <p:sp>
        <p:nvSpPr>
          <p:cNvPr id="13" name="Text 11"/>
          <p:cNvSpPr/>
          <p:nvPr/>
        </p:nvSpPr>
        <p:spPr>
          <a:xfrm>
            <a:off x="7616952" y="188366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16952" y="2157984"/>
            <a:ext cx="3767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 one side, image on the other — a classic two-column layout.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60920" y="3429000"/>
            <a:ext cx="4279392" cy="1965960"/>
          </a:xfrm>
          <a:prstGeom prst="roundRect">
            <a:avLst>
              <a:gd name="adj" fmla="val 4651"/>
            </a:avLst>
          </a:prstGeom>
          <a:solidFill>
            <a:srgbClr val="F7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7616952" y="357530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16952" y="3849624"/>
            <a:ext cx="376732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&lt;section&gt;, &lt;h2&gt;, &lt;p&gt;, and &lt;img&gt; to build this section.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· CONVERSION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to 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the website: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852160" cy="1920240"/>
          </a:xfrm>
          <a:prstGeom prst="roundRect">
            <a:avLst>
              <a:gd name="adj" fmla="val 6667"/>
            </a:avLst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Start Building?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creating your first project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71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852160" cy="1737360"/>
          </a:xfrm>
          <a:prstGeom prst="roundRect">
            <a:avLst>
              <a:gd name="adj" fmla="val 5263"/>
            </a:avLst>
          </a:prstGeom>
          <a:solidFill>
            <a:srgbClr val="EFECFD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4078224"/>
            <a:ext cx="5340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WEBSITES USE BUTTONS?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4352544"/>
            <a:ext cx="534009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encourage visitors to take an action.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8660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86600" y="2103120"/>
            <a:ext cx="2194560" cy="1078992"/>
          </a:xfrm>
          <a:prstGeom prst="roundRect">
            <a:avLst>
              <a:gd name="adj" fmla="val 6780"/>
            </a:avLst>
          </a:prstGeom>
          <a:solidFill>
            <a:srgbClr val="F7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7159752" y="2103120"/>
            <a:ext cx="20482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64040" y="2103120"/>
            <a:ext cx="2194560" cy="1078992"/>
          </a:xfrm>
          <a:prstGeom prst="roundRect">
            <a:avLst>
              <a:gd name="adj" fmla="val 6780"/>
            </a:avLst>
          </a:prstGeom>
          <a:solidFill>
            <a:srgbClr val="F7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9537192" y="2103120"/>
            <a:ext cx="20482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86600" y="3346704"/>
            <a:ext cx="2194560" cy="1078992"/>
          </a:xfrm>
          <a:prstGeom prst="roundRect">
            <a:avLst>
              <a:gd name="adj" fmla="val 6780"/>
            </a:avLst>
          </a:prstGeom>
          <a:solidFill>
            <a:srgbClr val="F7F6FC"/>
          </a:solidFill>
          <a:ln/>
        </p:spPr>
      </p:sp>
      <p:sp>
        <p:nvSpPr>
          <p:cNvPr id="19" name="Text 17"/>
          <p:cNvSpPr/>
          <p:nvPr/>
        </p:nvSpPr>
        <p:spPr>
          <a:xfrm>
            <a:off x="7159752" y="3346704"/>
            <a:ext cx="20482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464040" y="3346704"/>
            <a:ext cx="2194560" cy="1078992"/>
          </a:xfrm>
          <a:prstGeom prst="roundRect">
            <a:avLst>
              <a:gd name="adj" fmla="val 6780"/>
            </a:avLst>
          </a:prstGeom>
          <a:solidFill>
            <a:srgbClr val="F7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9537192" y="3346704"/>
            <a:ext cx="20482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Now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86600" y="4590288"/>
            <a:ext cx="2194560" cy="1078992"/>
          </a:xfrm>
          <a:prstGeom prst="roundRect">
            <a:avLst>
              <a:gd name="adj" fmla="val 6780"/>
            </a:avLst>
          </a:prstGeom>
          <a:solidFill>
            <a:srgbClr val="F7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7159752" y="4590288"/>
            <a:ext cx="20482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Now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64040" y="4590288"/>
            <a:ext cx="2194560" cy="1078992"/>
          </a:xfrm>
          <a:prstGeom prst="roundRect">
            <a:avLst>
              <a:gd name="adj" fmla="val 6780"/>
            </a:avLst>
          </a:prstGeom>
          <a:solidFill>
            <a:srgbClr val="F7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9537192" y="4590288"/>
            <a:ext cx="20482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Projects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· WRAPPING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website needs a way to finish the page.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949440" cy="1737360"/>
          </a:xfrm>
          <a:prstGeom prst="roundRect">
            <a:avLst>
              <a:gd name="adj" fmla="val 6316"/>
            </a:avLst>
          </a:prstGeom>
          <a:solidFill>
            <a:srgbClr val="1416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TechNova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|  Features  |  About  |  Contact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TechNova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6949440" cy="2148840"/>
          </a:xfrm>
          <a:prstGeom prst="roundRect">
            <a:avLst>
              <a:gd name="adj" fmla="val 5106"/>
            </a:avLst>
          </a:prstGeom>
          <a:solidFill>
            <a:srgbClr val="14162A"/>
          </a:solidFill>
          <a:ln/>
          <a:effectLst>
            <a:outerShdw sx="100000" sy="100000" kx="0" ky="0" algn="bl" rotWithShape="0" blurRad="127000" dist="50800" dir="5400000">
              <a:srgbClr val="6C5CE7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393192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" y="393192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393192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4251960"/>
            <a:ext cx="6364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&lt;/footer&gt;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80960" y="1737360"/>
            <a:ext cx="3977640" cy="1737360"/>
          </a:xfrm>
          <a:prstGeom prst="roundRect">
            <a:avLst>
              <a:gd name="adj" fmla="val 5263"/>
            </a:avLst>
          </a:prstGeom>
          <a:solidFill>
            <a:srgbClr val="EFECFD"/>
          </a:solidFill>
          <a:ln/>
        </p:spPr>
      </p:sp>
      <p:sp>
        <p:nvSpPr>
          <p:cNvPr id="15" name="Text 13"/>
          <p:cNvSpPr/>
          <p:nvPr/>
        </p:nvSpPr>
        <p:spPr>
          <a:xfrm>
            <a:off x="7936992" y="1883664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36992" y="2157984"/>
            <a:ext cx="346557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footer does not need to be complicated.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80960" y="3657600"/>
            <a:ext cx="3977640" cy="2240280"/>
          </a:xfrm>
          <a:prstGeom prst="roundRect">
            <a:avLst>
              <a:gd name="adj" fmla="val 4082"/>
            </a:avLst>
          </a:prstGeom>
          <a:solidFill>
            <a:srgbClr val="F7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7936992" y="3803904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SIMPLE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36992" y="4078224"/>
            <a:ext cx="3465576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logo, a few links, and a copyright line is usually enough.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· BUILD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It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A9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Build Order — we will build the website in this order: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4026" cy="1280160"/>
          </a:xfrm>
          <a:prstGeom prst="roundRect">
            <a:avLst>
              <a:gd name="adj" fmla="val 7143"/>
            </a:avLst>
          </a:prstGeom>
          <a:solidFill>
            <a:srgbClr val="F7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88366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83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847088"/>
            <a:ext cx="27593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HTML structure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3834" y="1737360"/>
            <a:ext cx="3564026" cy="1280160"/>
          </a:xfrm>
          <a:prstGeom prst="roundRect">
            <a:avLst>
              <a:gd name="adj" fmla="val 7143"/>
            </a:avLst>
          </a:prstGeom>
          <a:solidFill>
            <a:srgbClr val="F7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478426" y="188366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4478426" y="1883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53914" y="1847088"/>
            <a:ext cx="27593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navigation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9029" y="1737360"/>
            <a:ext cx="3564026" cy="1280160"/>
          </a:xfrm>
          <a:prstGeom prst="roundRect">
            <a:avLst>
              <a:gd name="adj" fmla="val 7143"/>
            </a:avLst>
          </a:prstGeom>
          <a:solidFill>
            <a:srgbClr val="F7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243621" y="188366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8243621" y="1883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19109" y="1847088"/>
            <a:ext cx="27593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hero section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3564026" cy="1280160"/>
          </a:xfrm>
          <a:prstGeom prst="roundRect">
            <a:avLst>
              <a:gd name="adj" fmla="val 7143"/>
            </a:avLst>
          </a:prstGeom>
          <a:solidFill>
            <a:srgbClr val="F7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334670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310128"/>
            <a:ext cx="27593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features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3834" y="3200400"/>
            <a:ext cx="3564026" cy="1280160"/>
          </a:xfrm>
          <a:prstGeom prst="roundRect">
            <a:avLst>
              <a:gd name="adj" fmla="val 7143"/>
            </a:avLst>
          </a:prstGeom>
          <a:solidFill>
            <a:srgbClr val="F7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4478426" y="334670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3" name="Text 21"/>
          <p:cNvSpPr/>
          <p:nvPr/>
        </p:nvSpPr>
        <p:spPr>
          <a:xfrm>
            <a:off x="4478426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53914" y="3310128"/>
            <a:ext cx="27593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About section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9029" y="3200400"/>
            <a:ext cx="3564026" cy="1280160"/>
          </a:xfrm>
          <a:prstGeom prst="roundRect">
            <a:avLst>
              <a:gd name="adj" fmla="val 7143"/>
            </a:avLst>
          </a:prstGeom>
          <a:solidFill>
            <a:srgbClr val="F7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8243621" y="334670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7" name="Text 25"/>
          <p:cNvSpPr/>
          <p:nvPr/>
        </p:nvSpPr>
        <p:spPr>
          <a:xfrm>
            <a:off x="8243621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19109" y="3310128"/>
            <a:ext cx="27593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CTA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3564026" cy="1280160"/>
          </a:xfrm>
          <a:prstGeom prst="roundRect">
            <a:avLst>
              <a:gd name="adj" fmla="val 7143"/>
            </a:avLst>
          </a:prstGeom>
          <a:solidFill>
            <a:srgbClr val="F7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713232" y="480974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809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4773168"/>
            <a:ext cx="27593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footer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13834" y="4663440"/>
            <a:ext cx="3564026" cy="1280160"/>
          </a:xfrm>
          <a:prstGeom prst="roundRect">
            <a:avLst>
              <a:gd name="adj" fmla="val 7143"/>
            </a:avLst>
          </a:prstGeom>
          <a:solidFill>
            <a:srgbClr val="F7F6FC"/>
          </a:solidFill>
          <a:ln/>
        </p:spPr>
      </p:sp>
      <p:sp>
        <p:nvSpPr>
          <p:cNvPr id="34" name="Shape 32"/>
          <p:cNvSpPr/>
          <p:nvPr/>
        </p:nvSpPr>
        <p:spPr>
          <a:xfrm>
            <a:off x="4478426" y="480974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5" name="Text 33"/>
          <p:cNvSpPr/>
          <p:nvPr/>
        </p:nvSpPr>
        <p:spPr>
          <a:xfrm>
            <a:off x="4478426" y="4809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53914" y="4773168"/>
            <a:ext cx="27593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CSS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9029" y="4663440"/>
            <a:ext cx="3564026" cy="1280160"/>
          </a:xfrm>
          <a:prstGeom prst="roundRect">
            <a:avLst>
              <a:gd name="adj" fmla="val 7143"/>
            </a:avLst>
          </a:prstGeom>
          <a:solidFill>
            <a:srgbClr val="F7F6FC"/>
          </a:solidFill>
          <a:ln/>
        </p:spPr>
      </p:sp>
      <p:sp>
        <p:nvSpPr>
          <p:cNvPr id="38" name="Shape 36"/>
          <p:cNvSpPr/>
          <p:nvPr/>
        </p:nvSpPr>
        <p:spPr>
          <a:xfrm>
            <a:off x="8243621" y="480974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9" name="Text 37"/>
          <p:cNvSpPr/>
          <p:nvPr/>
        </p:nvSpPr>
        <p:spPr>
          <a:xfrm>
            <a:off x="8243621" y="4809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719109" y="4773168"/>
            <a:ext cx="27593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the website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F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· CHECKPOINT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CSS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make sure the HTML works. Your website might look boring: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949440" cy="4160520"/>
          </a:xfrm>
          <a:prstGeom prst="roundRect">
            <a:avLst>
              <a:gd name="adj" fmla="val 2637"/>
            </a:avLst>
          </a:prstGeom>
          <a:solidFill>
            <a:srgbClr val="14162A"/>
          </a:solidFill>
          <a:ln/>
          <a:effectLst>
            <a:outerShdw sx="100000" sy="100000" kx="0" ky="0" algn="bl" rotWithShape="0" blurRad="127000" dist="50800" dir="5400000">
              <a:srgbClr val="6C5CE7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202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9202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9202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240280"/>
            <a:ext cx="63642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TechNova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  Features  About  Contact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Better. Create Faster.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 that helps creators build amazing projects.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Started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  Simple   Powerful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 to Start Building?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TechNova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80960" y="173736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FECFD"/>
          </a:solidFill>
          <a:ln/>
        </p:spPr>
      </p:sp>
      <p:sp>
        <p:nvSpPr>
          <p:cNvPr id="11" name="Text 9"/>
          <p:cNvSpPr/>
          <p:nvPr/>
        </p:nvSpPr>
        <p:spPr>
          <a:xfrm>
            <a:off x="7936992" y="1883664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OKAY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36992" y="2157984"/>
            <a:ext cx="346557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provides the structure.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80960" y="333756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7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7936992" y="3483864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36992" y="3758184"/>
            <a:ext cx="346557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provides the appearance.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80960" y="493776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EFECFD"/>
          </a:solidFill>
          <a:ln/>
        </p:spPr>
      </p:sp>
      <p:sp>
        <p:nvSpPr>
          <p:cNvPr id="17" name="Text 15"/>
          <p:cNvSpPr/>
          <p:nvPr/>
        </p:nvSpPr>
        <p:spPr>
          <a:xfrm>
            <a:off x="7936992" y="5084064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36992" y="5358384"/>
            <a:ext cx="3465576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what we build together next.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· THE TRANSFORMATION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Makes the Difference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17520" cy="3611880"/>
          </a:xfrm>
          <a:prstGeom prst="roundRect">
            <a:avLst>
              <a:gd name="adj" fmla="val 3636"/>
            </a:avLst>
          </a:prstGeom>
          <a:solidFill>
            <a:srgbClr val="F7F6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CSS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24688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75888" y="3232404"/>
            <a:ext cx="603504" cy="27432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1737360"/>
            <a:ext cx="3017520" cy="3611880"/>
          </a:xfrm>
          <a:prstGeom prst="roundRect">
            <a:avLst>
              <a:gd name="adj" fmla="val 3636"/>
            </a:avLst>
          </a:prstGeom>
          <a:solidFill>
            <a:srgbClr val="6C5CE7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63440" y="1965960"/>
            <a:ext cx="24688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0" y="13716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CHANGE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80960" y="1737360"/>
            <a:ext cx="1897380" cy="779526"/>
          </a:xfrm>
          <a:prstGeom prst="roundRect">
            <a:avLst>
              <a:gd name="adj" fmla="val 9384"/>
            </a:avLst>
          </a:prstGeom>
          <a:solidFill>
            <a:srgbClr val="F7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54112" y="1737360"/>
            <a:ext cx="1751076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761220" y="1737360"/>
            <a:ext cx="1897380" cy="779526"/>
          </a:xfrm>
          <a:prstGeom prst="roundRect">
            <a:avLst>
              <a:gd name="adj" fmla="val 9384"/>
            </a:avLst>
          </a:prstGeom>
          <a:solidFill>
            <a:srgbClr val="F7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9834372" y="1737360"/>
            <a:ext cx="1751076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80960" y="2681478"/>
            <a:ext cx="1897380" cy="779526"/>
          </a:xfrm>
          <a:prstGeom prst="roundRect">
            <a:avLst>
              <a:gd name="adj" fmla="val 9384"/>
            </a:avLst>
          </a:prstGeom>
          <a:solidFill>
            <a:srgbClr val="F7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54112" y="2681478"/>
            <a:ext cx="1751076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761220" y="2681478"/>
            <a:ext cx="1897380" cy="779526"/>
          </a:xfrm>
          <a:prstGeom prst="roundRect">
            <a:avLst>
              <a:gd name="adj" fmla="val 9384"/>
            </a:avLst>
          </a:prstGeom>
          <a:solidFill>
            <a:srgbClr val="F7F6FC"/>
          </a:solidFill>
          <a:ln/>
        </p:spPr>
      </p:sp>
      <p:sp>
        <p:nvSpPr>
          <p:cNvPr id="19" name="Text 17"/>
          <p:cNvSpPr/>
          <p:nvPr/>
        </p:nvSpPr>
        <p:spPr>
          <a:xfrm>
            <a:off x="9834372" y="2681478"/>
            <a:ext cx="1751076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80960" y="3625596"/>
            <a:ext cx="1897380" cy="779526"/>
          </a:xfrm>
          <a:prstGeom prst="roundRect">
            <a:avLst>
              <a:gd name="adj" fmla="val 9384"/>
            </a:avLst>
          </a:prstGeom>
          <a:solidFill>
            <a:srgbClr val="F7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54112" y="3625596"/>
            <a:ext cx="1751076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761220" y="3625596"/>
            <a:ext cx="1897380" cy="779526"/>
          </a:xfrm>
          <a:prstGeom prst="roundRect">
            <a:avLst>
              <a:gd name="adj" fmla="val 9384"/>
            </a:avLst>
          </a:prstGeom>
          <a:solidFill>
            <a:srgbClr val="F7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9834372" y="3625596"/>
            <a:ext cx="1751076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80960" y="4569714"/>
            <a:ext cx="1897380" cy="779526"/>
          </a:xfrm>
          <a:prstGeom prst="roundRect">
            <a:avLst>
              <a:gd name="adj" fmla="val 9384"/>
            </a:avLst>
          </a:prstGeom>
          <a:solidFill>
            <a:srgbClr val="F7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7754112" y="4569714"/>
            <a:ext cx="1751076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761220" y="4569714"/>
            <a:ext cx="1897380" cy="779526"/>
          </a:xfrm>
          <a:prstGeom prst="roundRect">
            <a:avLst>
              <a:gd name="adj" fmla="val 9384"/>
            </a:avLst>
          </a:prstGeom>
          <a:solidFill>
            <a:srgbClr val="F7F6FC"/>
          </a:solidFill>
          <a:ln/>
        </p:spPr>
      </p:sp>
      <p:sp>
        <p:nvSpPr>
          <p:cNvPr id="27" name="Text 25"/>
          <p:cNvSpPr/>
          <p:nvPr/>
        </p:nvSpPr>
        <p:spPr>
          <a:xfrm>
            <a:off x="9834372" y="4569714"/>
            <a:ext cx="1751076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· MAKE IT YOURS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TechNova website and create your own version. Change: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383280" cy="718718"/>
          </a:xfrm>
          <a:prstGeom prst="roundRect">
            <a:avLst>
              <a:gd name="adj" fmla="val 10178"/>
            </a:avLst>
          </a:prstGeom>
          <a:solidFill>
            <a:srgbClr val="F7F6FC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691640"/>
            <a:ext cx="3236976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colour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0" y="1691640"/>
            <a:ext cx="3383280" cy="718718"/>
          </a:xfrm>
          <a:prstGeom prst="roundRect">
            <a:avLst>
              <a:gd name="adj" fmla="val 10178"/>
            </a:avLst>
          </a:prstGeom>
          <a:solidFill>
            <a:srgbClr val="F7F6FC"/>
          </a:solidFill>
          <a:ln/>
        </p:spPr>
      </p:sp>
      <p:sp>
        <p:nvSpPr>
          <p:cNvPr id="8" name="Text 6"/>
          <p:cNvSpPr/>
          <p:nvPr/>
        </p:nvSpPr>
        <p:spPr>
          <a:xfrm>
            <a:off x="4187952" y="1691640"/>
            <a:ext cx="3236976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colour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74950"/>
            <a:ext cx="3383280" cy="718718"/>
          </a:xfrm>
          <a:prstGeom prst="roundRect">
            <a:avLst>
              <a:gd name="adj" fmla="val 10178"/>
            </a:avLst>
          </a:prstGeom>
          <a:solidFill>
            <a:srgbClr val="F7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574950"/>
            <a:ext cx="3236976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sizes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2574950"/>
            <a:ext cx="3383280" cy="718718"/>
          </a:xfrm>
          <a:prstGeom prst="roundRect">
            <a:avLst>
              <a:gd name="adj" fmla="val 10178"/>
            </a:avLst>
          </a:prstGeom>
          <a:solidFill>
            <a:srgbClr val="F7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4187952" y="2574950"/>
            <a:ext cx="3236976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style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58261"/>
            <a:ext cx="3383280" cy="718718"/>
          </a:xfrm>
          <a:prstGeom prst="roundRect">
            <a:avLst>
              <a:gd name="adj" fmla="val 10178"/>
            </a:avLst>
          </a:prstGeom>
          <a:solidFill>
            <a:srgbClr val="F7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458261"/>
            <a:ext cx="3236976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design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3458261"/>
            <a:ext cx="3383280" cy="718718"/>
          </a:xfrm>
          <a:prstGeom prst="roundRect">
            <a:avLst>
              <a:gd name="adj" fmla="val 10178"/>
            </a:avLst>
          </a:prstGeom>
          <a:solidFill>
            <a:srgbClr val="F7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4187952" y="3458261"/>
            <a:ext cx="3236976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41571"/>
            <a:ext cx="3383280" cy="718718"/>
          </a:xfrm>
          <a:prstGeom prst="roundRect">
            <a:avLst>
              <a:gd name="adj" fmla="val 10178"/>
            </a:avLst>
          </a:prstGeom>
          <a:solidFill>
            <a:srgbClr val="F7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4341571"/>
            <a:ext cx="3236976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style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0" y="4341571"/>
            <a:ext cx="3383280" cy="718718"/>
          </a:xfrm>
          <a:prstGeom prst="roundRect">
            <a:avLst>
              <a:gd name="adj" fmla="val 10178"/>
            </a:avLst>
          </a:prstGeom>
          <a:solidFill>
            <a:srgbClr val="F7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4187952" y="4341571"/>
            <a:ext cx="3236976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style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224882"/>
            <a:ext cx="3383280" cy="718718"/>
          </a:xfrm>
          <a:prstGeom prst="roundRect">
            <a:avLst>
              <a:gd name="adj" fmla="val 10178"/>
            </a:avLst>
          </a:prstGeom>
          <a:solidFill>
            <a:srgbClr val="F7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5224882"/>
            <a:ext cx="3236976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0" y="5224882"/>
            <a:ext cx="3383280" cy="718718"/>
          </a:xfrm>
          <a:prstGeom prst="roundRect">
            <a:avLst>
              <a:gd name="adj" fmla="val 10178"/>
            </a:avLst>
          </a:prstGeom>
          <a:solidFill>
            <a:srgbClr val="F7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4187952" y="5224882"/>
            <a:ext cx="3236976" cy="718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layout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80960" y="1691640"/>
            <a:ext cx="3977640" cy="2011680"/>
          </a:xfrm>
          <a:prstGeom prst="roundRect">
            <a:avLst>
              <a:gd name="adj" fmla="val 4545"/>
            </a:avLst>
          </a:prstGeom>
          <a:solidFill>
            <a:srgbClr val="EFECFD"/>
          </a:solidFill>
          <a:ln/>
        </p:spPr>
      </p:sp>
      <p:sp>
        <p:nvSpPr>
          <p:cNvPr id="26" name="Text 24"/>
          <p:cNvSpPr/>
          <p:nvPr/>
        </p:nvSpPr>
        <p:spPr>
          <a:xfrm>
            <a:off x="7936992" y="1837944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36992" y="2112264"/>
            <a:ext cx="3465576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simply copy my design.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680960" y="3886200"/>
            <a:ext cx="3977640" cy="2057400"/>
          </a:xfrm>
          <a:prstGeom prst="roundRect">
            <a:avLst>
              <a:gd name="adj" fmla="val 4444"/>
            </a:avLst>
          </a:prstGeom>
          <a:solidFill>
            <a:srgbClr val="F7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7936992" y="4032504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36992" y="4306824"/>
            <a:ext cx="3465576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version different.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· CLASSWORK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1: TechNova Landing Page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task: build the complete TechNova website from today's demonstration.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19192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65376"/>
            <a:ext cx="501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194560"/>
            <a:ext cx="5016856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Navigation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Hero section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 least one image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Three feature cards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About section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Call-to-action section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Footer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CSS stylesheet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737360"/>
            <a:ext cx="5419192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5032" y="1865376"/>
            <a:ext cx="501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Challenge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25032" y="2194560"/>
            <a:ext cx="5016856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Hover effect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Better spacing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Your own colour palette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second image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· CLASSWORK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Classwork: Personalise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change the project. You may rename TechNova to: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383280" cy="682752"/>
          </a:xfrm>
          <a:prstGeom prst="roundRect">
            <a:avLst>
              <a:gd name="adj" fmla="val 10714"/>
            </a:avLst>
          </a:prstGeom>
          <a:solidFill>
            <a:srgbClr val="F7F6FC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737360"/>
            <a:ext cx="3236976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CodeSpark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0" y="1737360"/>
            <a:ext cx="3383280" cy="682752"/>
          </a:xfrm>
          <a:prstGeom prst="roundRect">
            <a:avLst>
              <a:gd name="adj" fmla="val 10714"/>
            </a:avLst>
          </a:prstGeom>
          <a:solidFill>
            <a:srgbClr val="F7F6FC"/>
          </a:solidFill>
          <a:ln/>
        </p:spPr>
      </p:sp>
      <p:sp>
        <p:nvSpPr>
          <p:cNvPr id="8" name="Text 6"/>
          <p:cNvSpPr/>
          <p:nvPr/>
        </p:nvSpPr>
        <p:spPr>
          <a:xfrm>
            <a:off x="4187952" y="1737360"/>
            <a:ext cx="3236976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FutureTech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84704"/>
            <a:ext cx="3383280" cy="682752"/>
          </a:xfrm>
          <a:prstGeom prst="roundRect">
            <a:avLst>
              <a:gd name="adj" fmla="val 10714"/>
            </a:avLst>
          </a:prstGeom>
          <a:solidFill>
            <a:srgbClr val="F7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584704"/>
            <a:ext cx="3236976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NovaLab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0" y="2584704"/>
            <a:ext cx="3383280" cy="682752"/>
          </a:xfrm>
          <a:prstGeom prst="roundRect">
            <a:avLst>
              <a:gd name="adj" fmla="val 10714"/>
            </a:avLst>
          </a:prstGeom>
          <a:solidFill>
            <a:srgbClr val="F7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4187952" y="2584704"/>
            <a:ext cx="3236976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PixelWorks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32048"/>
            <a:ext cx="3383280" cy="682752"/>
          </a:xfrm>
          <a:prstGeom prst="roundRect">
            <a:avLst>
              <a:gd name="adj" fmla="val 10714"/>
            </a:avLst>
          </a:prstGeom>
          <a:solidFill>
            <a:srgbClr val="F7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432048"/>
            <a:ext cx="3236976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BuildHub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14800" y="3432048"/>
            <a:ext cx="3383280" cy="682752"/>
          </a:xfrm>
          <a:prstGeom prst="roundRect">
            <a:avLst>
              <a:gd name="adj" fmla="val 10714"/>
            </a:avLst>
          </a:prstGeom>
          <a:solidFill>
            <a:srgbClr val="F7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4187952" y="3432048"/>
            <a:ext cx="3236976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Name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6949440" cy="1600200"/>
          </a:xfrm>
          <a:prstGeom prst="roundRect">
            <a:avLst>
              <a:gd name="adj" fmla="val 5714"/>
            </a:avLst>
          </a:prstGeom>
          <a:solidFill>
            <a:srgbClr val="EFECFD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489704"/>
            <a:ext cx="6437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4764024"/>
            <a:ext cx="6437376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at least five things.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680960" y="1737360"/>
            <a:ext cx="3977640" cy="4206240"/>
          </a:xfrm>
          <a:prstGeom prst="roundRect">
            <a:avLst>
              <a:gd name="adj" fmla="val 2299"/>
            </a:avLst>
          </a:prstGeom>
          <a:solidFill>
            <a:srgbClr val="EFECF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6992" y="1883664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36992" y="2157984"/>
            <a:ext cx="3465576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demonstrates that you understand the CSS rather than simply copying it.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· PORTFOLIO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2: Personal Profile Card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professional profile card.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291840" cy="42062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  <a:effectLst>
            <a:outerShdw sx="100000" sy="100000" kx="0" ky="0" algn="bl" rotWithShape="0" blurRad="152400" dist="50800" dir="5400000">
              <a:srgbClr val="6C5CE7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37360" y="2011680"/>
            <a:ext cx="914400" cy="9144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Name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biography goes here.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40233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7F6FC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4023360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0" y="40233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7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2359152" y="4023360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188720" y="51663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5166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1737360"/>
            <a:ext cx="3415284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865376"/>
            <a:ext cx="3012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73168" y="2194560"/>
            <a:ext cx="3012948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Your name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Profile image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Short biography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Skills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Location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Social links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Contact button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43316" y="1737360"/>
            <a:ext cx="3415284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4484" y="1865376"/>
            <a:ext cx="30129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Requirements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44484" y="2194560"/>
            <a:ext cx="3012948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Background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Border radius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Padding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Margin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Box shadow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Font styling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5257800"/>
            <a:ext cx="7086600" cy="914400"/>
          </a:xfrm>
          <a:prstGeom prst="roundRect">
            <a:avLst>
              <a:gd name="adj" fmla="val 10000"/>
            </a:avLst>
          </a:prstGeom>
          <a:solidFill>
            <a:srgbClr val="EFECFD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5404104"/>
            <a:ext cx="6574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5678424"/>
            <a:ext cx="6574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something you could actually put on a portfolio website.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 · WEEKEND PROJECT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 Website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recipe webpage.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5720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65376"/>
            <a:ext cx="4169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194560"/>
            <a:ext cx="4169664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Recipe name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Food image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Description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Ingredients list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Preparation time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Cooking instructions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Nutrition information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Footer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4572000" cy="1600200"/>
          </a:xfrm>
          <a:prstGeom prst="roundRect">
            <a:avLst>
              <a:gd name="adj" fmla="val 6857"/>
            </a:avLst>
          </a:prstGeom>
          <a:solidFill>
            <a:srgbClr val="14162A"/>
          </a:solidFill>
          <a:ln/>
          <a:effectLst>
            <a:outerShdw sx="100000" sy="100000" kx="0" ky="0" algn="bl" rotWithShape="0" blurRad="127000" dist="50800" dir="5400000">
              <a:srgbClr val="6C5CE7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48920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" y="48920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48920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5212080"/>
            <a:ext cx="3986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9A9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HTML practice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headings, paragraphs, lists, images, sections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9A9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CSS practice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colours, spacing, cards, fonts, borders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1737360"/>
            <a:ext cx="4572000" cy="4343400"/>
          </a:xfrm>
          <a:prstGeom prst="roundRect">
            <a:avLst>
              <a:gd name="adj" fmla="val 2105"/>
            </a:avLst>
          </a:prstGeom>
          <a:solidFill>
            <a:srgbClr val="EFECFD"/>
          </a:solidFill>
          <a:ln/>
        </p:spPr>
      </p:sp>
      <p:sp>
        <p:nvSpPr>
          <p:cNvPr id="14" name="Text 12"/>
          <p:cNvSpPr/>
          <p:nvPr/>
        </p:nvSpPr>
        <p:spPr>
          <a:xfrm>
            <a:off x="7342632" y="1883664"/>
            <a:ext cx="4059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RECIPE PAGE?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42632" y="2157984"/>
            <a:ext cx="4059936" cy="3776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recipe page is a good beginner project because it combines semantic HTML with basic CSS without requiring JavaScript.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 · WEEKEND PROJECT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Landing Page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website for a fictional product. Examples: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194560" cy="923544"/>
          </a:xfrm>
          <a:prstGeom prst="roundRect">
            <a:avLst>
              <a:gd name="adj" fmla="val 7921"/>
            </a:avLst>
          </a:prstGeom>
          <a:solidFill>
            <a:srgbClr val="F7F6FC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691640"/>
            <a:ext cx="2048256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Smartwatch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926080" y="1691640"/>
            <a:ext cx="2194560" cy="923544"/>
          </a:xfrm>
          <a:prstGeom prst="roundRect">
            <a:avLst>
              <a:gd name="adj" fmla="val 7921"/>
            </a:avLst>
          </a:prstGeom>
          <a:solidFill>
            <a:srgbClr val="F7F6FC"/>
          </a:solidFill>
          <a:ln/>
        </p:spPr>
      </p:sp>
      <p:sp>
        <p:nvSpPr>
          <p:cNvPr id="8" name="Text 6"/>
          <p:cNvSpPr/>
          <p:nvPr/>
        </p:nvSpPr>
        <p:spPr>
          <a:xfrm>
            <a:off x="2999232" y="1691640"/>
            <a:ext cx="2048256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303520" y="1691640"/>
            <a:ext cx="2194560" cy="923544"/>
          </a:xfrm>
          <a:prstGeom prst="roundRect">
            <a:avLst>
              <a:gd name="adj" fmla="val 7921"/>
            </a:avLst>
          </a:prstGeom>
          <a:solidFill>
            <a:srgbClr val="F7F6FC"/>
          </a:solidFill>
          <a:ln/>
        </p:spPr>
      </p:sp>
      <p:sp>
        <p:nvSpPr>
          <p:cNvPr id="10" name="Text 8"/>
          <p:cNvSpPr/>
          <p:nvPr/>
        </p:nvSpPr>
        <p:spPr>
          <a:xfrm>
            <a:off x="5376672" y="1691640"/>
            <a:ext cx="2048256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Headphones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779776"/>
            <a:ext cx="2194560" cy="923544"/>
          </a:xfrm>
          <a:prstGeom prst="roundRect">
            <a:avLst>
              <a:gd name="adj" fmla="val 7921"/>
            </a:avLst>
          </a:prstGeom>
          <a:solidFill>
            <a:srgbClr val="F7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779776"/>
            <a:ext cx="2048256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926080" y="2779776"/>
            <a:ext cx="2194560" cy="923544"/>
          </a:xfrm>
          <a:prstGeom prst="roundRect">
            <a:avLst>
              <a:gd name="adj" fmla="val 7921"/>
            </a:avLst>
          </a:prstGeom>
          <a:solidFill>
            <a:srgbClr val="F7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2999232" y="2779776"/>
            <a:ext cx="2048256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303520" y="2779776"/>
            <a:ext cx="2194560" cy="923544"/>
          </a:xfrm>
          <a:prstGeom prst="roundRect">
            <a:avLst>
              <a:gd name="adj" fmla="val 7921"/>
            </a:avLst>
          </a:prstGeom>
          <a:solidFill>
            <a:srgbClr val="F7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376672" y="2779776"/>
            <a:ext cx="2048256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Speaker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SECTIONS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3374136" cy="441960"/>
          </a:xfrm>
          <a:prstGeom prst="roundRect">
            <a:avLst>
              <a:gd name="adj" fmla="val 20690"/>
            </a:avLst>
          </a:prstGeom>
          <a:solidFill>
            <a:srgbClr val="F7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" y="439826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4398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361688"/>
            <a:ext cx="2569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23944" y="4251960"/>
            <a:ext cx="3374136" cy="441960"/>
          </a:xfrm>
          <a:prstGeom prst="roundRect">
            <a:avLst>
              <a:gd name="adj" fmla="val 20690"/>
            </a:avLst>
          </a:prstGeom>
          <a:solidFill>
            <a:srgbClr val="F7F6FC"/>
          </a:solidFill>
          <a:ln/>
        </p:spPr>
      </p:sp>
      <p:sp>
        <p:nvSpPr>
          <p:cNvPr id="23" name="Shape 21"/>
          <p:cNvSpPr/>
          <p:nvPr/>
        </p:nvSpPr>
        <p:spPr>
          <a:xfrm>
            <a:off x="4288536" y="439826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4" name="Text 22"/>
          <p:cNvSpPr/>
          <p:nvPr/>
        </p:nvSpPr>
        <p:spPr>
          <a:xfrm>
            <a:off x="4288536" y="4398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64024" y="4361688"/>
            <a:ext cx="2569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876800"/>
            <a:ext cx="3374136" cy="441960"/>
          </a:xfrm>
          <a:prstGeom prst="roundRect">
            <a:avLst>
              <a:gd name="adj" fmla="val 20690"/>
            </a:avLst>
          </a:prstGeom>
          <a:solidFill>
            <a:srgbClr val="F7F6FC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" y="502310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50231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986528"/>
            <a:ext cx="2569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+ image + description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23944" y="4876800"/>
            <a:ext cx="3374136" cy="441960"/>
          </a:xfrm>
          <a:prstGeom prst="roundRect">
            <a:avLst>
              <a:gd name="adj" fmla="val 20690"/>
            </a:avLst>
          </a:prstGeom>
          <a:solidFill>
            <a:srgbClr val="F7F6FC"/>
          </a:solidFill>
          <a:ln/>
        </p:spPr>
      </p:sp>
      <p:sp>
        <p:nvSpPr>
          <p:cNvPr id="31" name="Shape 29"/>
          <p:cNvSpPr/>
          <p:nvPr/>
        </p:nvSpPr>
        <p:spPr>
          <a:xfrm>
            <a:off x="4288536" y="502310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2" name="Text 30"/>
          <p:cNvSpPr/>
          <p:nvPr/>
        </p:nvSpPr>
        <p:spPr>
          <a:xfrm>
            <a:off x="4288536" y="50231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64024" y="4986528"/>
            <a:ext cx="2569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at least three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501640"/>
            <a:ext cx="3374136" cy="441960"/>
          </a:xfrm>
          <a:prstGeom prst="roundRect">
            <a:avLst>
              <a:gd name="adj" fmla="val 20690"/>
            </a:avLst>
          </a:prstGeom>
          <a:solidFill>
            <a:srgbClr val="F7F6FC"/>
          </a:solidFill>
          <a:ln/>
        </p:spPr>
      </p:sp>
      <p:sp>
        <p:nvSpPr>
          <p:cNvPr id="35" name="Shape 33"/>
          <p:cNvSpPr/>
          <p:nvPr/>
        </p:nvSpPr>
        <p:spPr>
          <a:xfrm>
            <a:off x="713232" y="564794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5647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5611368"/>
            <a:ext cx="2569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123944" y="5501640"/>
            <a:ext cx="3374136" cy="441960"/>
          </a:xfrm>
          <a:prstGeom prst="roundRect">
            <a:avLst>
              <a:gd name="adj" fmla="val 20690"/>
            </a:avLst>
          </a:prstGeom>
          <a:solidFill>
            <a:srgbClr val="F7F6FC"/>
          </a:solidFill>
          <a:ln/>
        </p:spPr>
      </p:sp>
      <p:sp>
        <p:nvSpPr>
          <p:cNvPr id="39" name="Shape 37"/>
          <p:cNvSpPr/>
          <p:nvPr/>
        </p:nvSpPr>
        <p:spPr>
          <a:xfrm>
            <a:off x="4288536" y="564794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0" name="Text 38"/>
          <p:cNvSpPr/>
          <p:nvPr/>
        </p:nvSpPr>
        <p:spPr>
          <a:xfrm>
            <a:off x="4288536" y="5647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764024" y="5611368"/>
            <a:ext cx="2569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680960" y="1691640"/>
            <a:ext cx="3977640" cy="4251960"/>
          </a:xfrm>
          <a:prstGeom prst="roundRect">
            <a:avLst>
              <a:gd name="adj" fmla="val 2299"/>
            </a:avLst>
          </a:prstGeom>
          <a:solidFill>
            <a:srgbClr val="EFECFD"/>
          </a:solidFill>
          <a:ln/>
        </p:spPr>
      </p:sp>
      <p:sp>
        <p:nvSpPr>
          <p:cNvPr id="43" name="Text 41"/>
          <p:cNvSpPr/>
          <p:nvPr/>
        </p:nvSpPr>
        <p:spPr>
          <a:xfrm>
            <a:off x="7936992" y="1837944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INFORMATION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936992" y="2112264"/>
            <a:ext cx="3465576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page still needs the same six building blocks — only the content changes.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 · WEEKEND PROJECT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Portfolio Homepage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is important. You will create your own developer portfolio homepage.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1525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  <a:effectLst>
            <a:outerShdw sx="100000" sy="100000" kx="0" ky="0" algn="bl" rotWithShape="0" blurRad="152400" dist="50800" dir="5400000">
              <a:srgbClr val="6C5CE7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2532888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6384" y="291693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8218" y="1691640"/>
            <a:ext cx="351525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  <a:effectLst>
            <a:outerShdw sx="100000" sy="100000" kx="0" ky="0" algn="bl" rotWithShape="0" blurRad="152400" dist="50800" dir="5400000">
              <a:srgbClr val="6C5CE7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4250" y="1947672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459425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5962" y="2532888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5962" y="291693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you do?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27797" y="1691640"/>
            <a:ext cx="351525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  <a:effectLst>
            <a:outerShdw sx="100000" sy="100000" kx="0" ky="0" algn="bl" rotWithShape="0" blurRad="152400" dist="50800" dir="5400000">
              <a:srgbClr val="6C5CE7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3829" y="1947672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7" name="Text 15"/>
          <p:cNvSpPr/>
          <p:nvPr/>
        </p:nvSpPr>
        <p:spPr>
          <a:xfrm>
            <a:off x="8383829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5541" y="2532888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5541" y="291693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have you built?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286000" y="3520440"/>
            <a:ext cx="365760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  <a:effectLst>
            <a:outerShdw sx="100000" sy="100000" kx="0" ky="0" algn="bl" rotWithShape="0" blurRad="152400" dist="50800" dir="5400000">
              <a:srgbClr val="6C5CE7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42032" y="3776472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2" name="Text 20"/>
          <p:cNvSpPr/>
          <p:nvPr/>
        </p:nvSpPr>
        <p:spPr>
          <a:xfrm>
            <a:off x="2542032" y="3776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523744" y="43616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Journey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523744" y="4745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currently learning?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3520440"/>
            <a:ext cx="365760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  <a:effectLst>
            <a:outerShdw sx="100000" sy="100000" kx="0" ky="0" algn="bl" rotWithShape="0" blurRad="152400" dist="50800" dir="5400000">
              <a:srgbClr val="6C5CE7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73952" y="3776472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7" name="Text 25"/>
          <p:cNvSpPr/>
          <p:nvPr/>
        </p:nvSpPr>
        <p:spPr>
          <a:xfrm>
            <a:off x="6473952" y="3776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55664" y="43616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55664" y="4745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someone reach you?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FECFD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5541264"/>
            <a:ext cx="105823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" y="5815584"/>
            <a:ext cx="10582351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portfolio should represent YOU.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 · PORTFOLIO CHECKLIST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Weekend Portfolio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Sunday, your portfolio should contain: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745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19656"/>
            <a:ext cx="3125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125114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Semantic sections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Navigation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Headings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Paragraphs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Lists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Links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2122" y="1691640"/>
            <a:ext cx="352745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3290" y="1819656"/>
            <a:ext cx="3125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33290" y="2148840"/>
            <a:ext cx="3125114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Colour scheme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Typography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Spacing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Cards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Buttons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Layout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Hover effects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15605" y="1691640"/>
            <a:ext cx="352745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16773" y="1819656"/>
            <a:ext cx="3125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16773" y="2148840"/>
            <a:ext cx="3125114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Push the project to GitHub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EFECFD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5221224"/>
            <a:ext cx="105823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5495544"/>
            <a:ext cx="10582351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it using GitHub Pages.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 · AI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AI as a Teacher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1143000"/>
          </a:xfrm>
          <a:prstGeom prst="roundRect">
            <a:avLst>
              <a:gd name="adj" fmla="val 8000"/>
            </a:avLst>
          </a:prstGeom>
          <a:solidFill>
            <a:srgbClr val="EFECFD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17904"/>
            <a:ext cx="105823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OUR WEEK 2 RULE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1792224"/>
            <a:ext cx="10582351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help you write code, but you must understand the code.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14162A"/>
          </a:solidFill>
          <a:ln/>
          <a:effectLst>
            <a:outerShdw sx="100000" sy="100000" kx="0" ky="0" algn="bl" rotWithShape="0" blurRad="127000" dist="50800" dir="5400000">
              <a:srgbClr val="6C5CE7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32918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" y="32918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32918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611880"/>
            <a:ext cx="4809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“Explain what display: flex does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simple English.”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10896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14162A"/>
          </a:solidFill>
          <a:ln/>
          <a:effectLst>
            <a:outerShdw sx="100000" sy="100000" kx="0" ky="0" algn="bl" rotWithShape="0" blurRad="127000" dist="50800" dir="5400000">
              <a:srgbClr val="6C5CE7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32918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6638544" y="32918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32918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3611880"/>
            <a:ext cx="4809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“Give me an example of using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gap with Flexbox.”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7F6FC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855464"/>
            <a:ext cx="105823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SIMPLY COPY THE ANSWER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5129784"/>
            <a:ext cx="10582351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yourself.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 · AI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Verification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1554480"/>
          </a:xfrm>
          <a:prstGeom prst="roundRect">
            <a:avLst>
              <a:gd name="adj" fmla="val 7059"/>
            </a:avLst>
          </a:prstGeom>
          <a:solidFill>
            <a:srgbClr val="14162A"/>
          </a:solidFill>
          <a:ln/>
          <a:effectLst>
            <a:outerShdw sx="100000" sy="100000" kx="0" ky="0" algn="bl" rotWithShape="0" blurRad="127000" dist="50800" dir="5400000">
              <a:srgbClr val="6C5CE7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2880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82880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82880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48840"/>
            <a:ext cx="4809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“Why is my CSS not working?”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i="1" dirty="0">
                <a:solidFill>
                  <a:srgbClr val="9A9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Give it your problem.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394960" cy="2514600"/>
          </a:xfrm>
          <a:prstGeom prst="roundRect">
            <a:avLst>
              <a:gd name="adj" fmla="val 3636"/>
            </a:avLst>
          </a:prstGeom>
          <a:solidFill>
            <a:srgbClr val="EFECFD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529584"/>
            <a:ext cx="4882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3803904"/>
            <a:ext cx="4882896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make mistakes. You are the developer.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086600" y="1280160"/>
            <a:ext cx="4572000" cy="1017270"/>
          </a:xfrm>
          <a:prstGeom prst="roundRect">
            <a:avLst>
              <a:gd name="adj" fmla="val 8989"/>
            </a:avLst>
          </a:prstGeom>
          <a:solidFill>
            <a:srgbClr val="F7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251192" y="142646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7251192" y="1426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26680" y="1389888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answer.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86600" y="2480310"/>
            <a:ext cx="4572000" cy="1017270"/>
          </a:xfrm>
          <a:prstGeom prst="roundRect">
            <a:avLst>
              <a:gd name="adj" fmla="val 8989"/>
            </a:avLst>
          </a:prstGeom>
          <a:solidFill>
            <a:srgbClr val="F7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7251192" y="262661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9" name="Text 17"/>
          <p:cNvSpPr/>
          <p:nvPr/>
        </p:nvSpPr>
        <p:spPr>
          <a:xfrm>
            <a:off x="7251192" y="262661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26680" y="2590038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suggestion.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86600" y="3680460"/>
            <a:ext cx="4572000" cy="1017270"/>
          </a:xfrm>
          <a:prstGeom prst="roundRect">
            <a:avLst>
              <a:gd name="adj" fmla="val 8989"/>
            </a:avLst>
          </a:prstGeom>
          <a:solidFill>
            <a:srgbClr val="F7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7251192" y="382676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3" name="Text 21"/>
          <p:cNvSpPr/>
          <p:nvPr/>
        </p:nvSpPr>
        <p:spPr>
          <a:xfrm>
            <a:off x="7251192" y="38267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26680" y="3790188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if it worked.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86600" y="4880610"/>
            <a:ext cx="4572000" cy="1017270"/>
          </a:xfrm>
          <a:prstGeom prst="roundRect">
            <a:avLst>
              <a:gd name="adj" fmla="val 8989"/>
            </a:avLst>
          </a:prstGeom>
          <a:solidFill>
            <a:srgbClr val="F7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7251192" y="502691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7" name="Text 25"/>
          <p:cNvSpPr/>
          <p:nvPr/>
        </p:nvSpPr>
        <p:spPr>
          <a:xfrm>
            <a:off x="7251192" y="502691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26680" y="4990338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changed.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 · WEEKEND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Three Projects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A9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three projects to complete: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23818" cy="2651760"/>
          </a:xfrm>
          <a:prstGeom prst="roundRect">
            <a:avLst>
              <a:gd name="adj" fmla="val 4828"/>
            </a:avLst>
          </a:prstGeom>
          <a:solidFill>
            <a:srgbClr val="1F2340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1168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2606040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Card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86384" y="320040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project.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46778" y="1737360"/>
            <a:ext cx="3423818" cy="2651760"/>
          </a:xfrm>
          <a:prstGeom prst="roundRect">
            <a:avLst>
              <a:gd name="adj" fmla="val 4828"/>
            </a:avLst>
          </a:prstGeom>
          <a:solidFill>
            <a:srgbClr val="1F2340"/>
          </a:solidFill>
          <a:ln/>
        </p:spPr>
      </p:sp>
      <p:sp>
        <p:nvSpPr>
          <p:cNvPr id="11" name="Shape 9"/>
          <p:cNvSpPr/>
          <p:nvPr/>
        </p:nvSpPr>
        <p:spPr>
          <a:xfrm>
            <a:off x="4502810" y="201168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450281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4522" y="2606040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Landing Page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84522" y="320040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project.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44917" y="1737360"/>
            <a:ext cx="3423818" cy="2651760"/>
          </a:xfrm>
          <a:prstGeom prst="roundRect">
            <a:avLst>
              <a:gd name="adj" fmla="val 4828"/>
            </a:avLst>
          </a:prstGeom>
          <a:solidFill>
            <a:srgbClr val="1F234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00949" y="201168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7" name="Text 15"/>
          <p:cNvSpPr/>
          <p:nvPr/>
        </p:nvSpPr>
        <p:spPr>
          <a:xfrm>
            <a:off x="8200949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82661" y="2606040"/>
            <a:ext cx="2966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Portfolio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82661" y="320040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project.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1F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764024"/>
            <a:ext cx="105823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5038344"/>
            <a:ext cx="10582351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build all three in one sitting. Work on them progressively.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F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 · BEFORE YOU SUBMIT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Quality Checklist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submitting a project, check: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7450" cy="2139696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73936"/>
            <a:ext cx="3125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103120"/>
            <a:ext cx="312511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Does the HTML work?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Are sections organised?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Are headings in the correct order?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2122" y="1645920"/>
            <a:ext cx="3527450" cy="2139696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3290" y="1773936"/>
            <a:ext cx="3125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33290" y="2103120"/>
            <a:ext cx="312511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 the text readable?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Are colours consistent?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 there enough spacing?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 the cards align properly?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15605" y="1645920"/>
            <a:ext cx="3527450" cy="2139696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16773" y="1773936"/>
            <a:ext cx="3125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16773" y="2103120"/>
            <a:ext cx="312511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 the images load?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 images have useful alt text?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3527450" cy="2139696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114800"/>
            <a:ext cx="3125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49808" y="4443984"/>
            <a:ext cx="312511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 navigation links work?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 buttons go somewhere?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32122" y="3986784"/>
            <a:ext cx="3527450" cy="2139696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3290" y="4114800"/>
            <a:ext cx="3125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33290" y="4443984"/>
            <a:ext cx="312511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 the CSS connected?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Are file names organised?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Did you test the website?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 · VERSION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completed project: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14162A"/>
          </a:solidFill>
          <a:ln/>
          <a:effectLst>
            <a:outerShdw sx="100000" sy="100000" kx="0" ky="0" algn="bl" rotWithShape="0" blurRad="127000" dist="50800" dir="5400000">
              <a:srgbClr val="6C5CE7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7452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87452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87452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94560"/>
            <a:ext cx="48097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Folder/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index.html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style.css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9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images/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2596896" cy="609600"/>
          </a:xfrm>
          <a:prstGeom prst="roundRect">
            <a:avLst>
              <a:gd name="adj" fmla="val 15000"/>
            </a:avLst>
          </a:prstGeom>
          <a:solidFill>
            <a:srgbClr val="F7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403250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4032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995928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46704" y="3886200"/>
            <a:ext cx="2596896" cy="609600"/>
          </a:xfrm>
          <a:prstGeom prst="roundRect">
            <a:avLst>
              <a:gd name="adj" fmla="val 15000"/>
            </a:avLst>
          </a:prstGeom>
          <a:solidFill>
            <a:srgbClr val="F7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3511296" y="403250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6" name="Text 14"/>
          <p:cNvSpPr/>
          <p:nvPr/>
        </p:nvSpPr>
        <p:spPr>
          <a:xfrm>
            <a:off x="3511296" y="4032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86784" y="3995928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78680"/>
            <a:ext cx="2596896" cy="609600"/>
          </a:xfrm>
          <a:prstGeom prst="roundRect">
            <a:avLst>
              <a:gd name="adj" fmla="val 15000"/>
            </a:avLst>
          </a:prstGeom>
          <a:solidFill>
            <a:srgbClr val="F7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" y="482498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4824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788408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46704" y="4678680"/>
            <a:ext cx="2596896" cy="609600"/>
          </a:xfrm>
          <a:prstGeom prst="roundRect">
            <a:avLst>
              <a:gd name="adj" fmla="val 15000"/>
            </a:avLst>
          </a:prstGeom>
          <a:solidFill>
            <a:srgbClr val="F7F6FC"/>
          </a:solidFill>
          <a:ln/>
        </p:spPr>
      </p:sp>
      <p:sp>
        <p:nvSpPr>
          <p:cNvPr id="23" name="Shape 21"/>
          <p:cNvSpPr/>
          <p:nvPr/>
        </p:nvSpPr>
        <p:spPr>
          <a:xfrm>
            <a:off x="3511296" y="482498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4" name="Text 22"/>
          <p:cNvSpPr/>
          <p:nvPr/>
        </p:nvSpPr>
        <p:spPr>
          <a:xfrm>
            <a:off x="3511296" y="4824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86784" y="4788408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471160"/>
            <a:ext cx="2596896" cy="609600"/>
          </a:xfrm>
          <a:prstGeom prst="roundRect">
            <a:avLst>
              <a:gd name="adj" fmla="val 15000"/>
            </a:avLst>
          </a:prstGeom>
          <a:solidFill>
            <a:srgbClr val="F7F6FC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" y="561746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5617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5580888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repository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46704" y="5471160"/>
            <a:ext cx="2596896" cy="609600"/>
          </a:xfrm>
          <a:prstGeom prst="roundRect">
            <a:avLst>
              <a:gd name="adj" fmla="val 15000"/>
            </a:avLst>
          </a:prstGeom>
          <a:solidFill>
            <a:srgbClr val="F7F6FC"/>
          </a:solidFill>
          <a:ln/>
        </p:spPr>
      </p:sp>
      <p:sp>
        <p:nvSpPr>
          <p:cNvPr id="31" name="Shape 29"/>
          <p:cNvSpPr/>
          <p:nvPr/>
        </p:nvSpPr>
        <p:spPr>
          <a:xfrm>
            <a:off x="3511296" y="561746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2" name="Text 30"/>
          <p:cNvSpPr/>
          <p:nvPr/>
        </p:nvSpPr>
        <p:spPr>
          <a:xfrm>
            <a:off x="3511296" y="5617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86784" y="5580888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with GitHub Pages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086600" y="1691640"/>
            <a:ext cx="4572000" cy="4389120"/>
          </a:xfrm>
          <a:prstGeom prst="roundRect">
            <a:avLst>
              <a:gd name="adj" fmla="val 2083"/>
            </a:avLst>
          </a:prstGeom>
          <a:solidFill>
            <a:srgbClr val="EFECFD"/>
          </a:solidFill>
          <a:ln/>
        </p:spPr>
      </p:sp>
      <p:sp>
        <p:nvSpPr>
          <p:cNvPr id="35" name="Text 33"/>
          <p:cNvSpPr/>
          <p:nvPr/>
        </p:nvSpPr>
        <p:spPr>
          <a:xfrm>
            <a:off x="7342632" y="1837944"/>
            <a:ext cx="4059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42632" y="2112264"/>
            <a:ext cx="4059936" cy="3822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repository is proof of your work — the first thing employers and collaborators will look for.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 · FRIDAY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60-Minute Build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60 minutes. Build as much of your project as possible.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7864" cy="2743200"/>
          </a:xfrm>
          <a:prstGeom prst="roundRect">
            <a:avLst>
              <a:gd name="adj" fmla="val 4985"/>
            </a:avLst>
          </a:prstGeom>
          <a:solidFill>
            <a:srgbClr val="F7F6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2567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567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2021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website.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90824" y="1828800"/>
            <a:ext cx="2567864" cy="2743200"/>
          </a:xfrm>
          <a:prstGeom prst="roundRect">
            <a:avLst>
              <a:gd name="adj" fmla="val 4985"/>
            </a:avLst>
          </a:prstGeom>
          <a:solidFill>
            <a:srgbClr val="F7F6FC"/>
          </a:solidFill>
          <a:ln/>
        </p:spPr>
      </p:sp>
      <p:sp>
        <p:nvSpPr>
          <p:cNvPr id="10" name="Text 8"/>
          <p:cNvSpPr/>
          <p:nvPr/>
        </p:nvSpPr>
        <p:spPr>
          <a:xfrm>
            <a:off x="3390824" y="2057400"/>
            <a:ext cx="2567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90824" y="2788920"/>
            <a:ext cx="2567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73704" y="3291840"/>
            <a:ext cx="22021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HTML.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3008" y="1828800"/>
            <a:ext cx="2567864" cy="2743200"/>
          </a:xfrm>
          <a:prstGeom prst="roundRect">
            <a:avLst>
              <a:gd name="adj" fmla="val 4985"/>
            </a:avLst>
          </a:prstGeom>
          <a:solidFill>
            <a:srgbClr val="F7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6233008" y="2057400"/>
            <a:ext cx="2567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33008" y="2788920"/>
            <a:ext cx="2567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15888" y="3291840"/>
            <a:ext cx="22021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CSS.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75191" y="1828800"/>
            <a:ext cx="2567864" cy="2743200"/>
          </a:xfrm>
          <a:prstGeom prst="roundRect">
            <a:avLst>
              <a:gd name="adj" fmla="val 4985"/>
            </a:avLst>
          </a:prstGeom>
          <a:solidFill>
            <a:srgbClr val="F7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9075191" y="2057400"/>
            <a:ext cx="2567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075191" y="2788920"/>
            <a:ext cx="2567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58071" y="3291840"/>
            <a:ext cx="22021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improve.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11094415" cy="1143000"/>
          </a:xfrm>
          <a:prstGeom prst="roundRect">
            <a:avLst>
              <a:gd name="adj" fmla="val 8000"/>
            </a:avLst>
          </a:prstGeom>
          <a:solidFill>
            <a:srgbClr val="EFECFD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5038344"/>
            <a:ext cx="105823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5312664"/>
            <a:ext cx="10582351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finished website is better than a huge unfinished one.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 · SHOW YOUR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builder will answer: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4415" cy="694944"/>
          </a:xfrm>
          <a:prstGeom prst="roundRect">
            <a:avLst>
              <a:gd name="adj" fmla="val 13158"/>
            </a:avLst>
          </a:prstGeom>
          <a:solidFill>
            <a:srgbClr val="F7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88366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83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847088"/>
            <a:ext cx="1028974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build?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11094415" cy="694944"/>
          </a:xfrm>
          <a:prstGeom prst="roundRect">
            <a:avLst>
              <a:gd name="adj" fmla="val 13158"/>
            </a:avLst>
          </a:prstGeom>
          <a:solidFill>
            <a:srgbClr val="F7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2761488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724912"/>
            <a:ext cx="1028974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hardest part?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93008"/>
            <a:ext cx="11094415" cy="694944"/>
          </a:xfrm>
          <a:prstGeom prst="roundRect">
            <a:avLst>
              <a:gd name="adj" fmla="val 13158"/>
            </a:avLst>
          </a:prstGeom>
          <a:solidFill>
            <a:srgbClr val="F7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3639312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639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602736"/>
            <a:ext cx="1028974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CSS property did you learn?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70832"/>
            <a:ext cx="11094415" cy="694944"/>
          </a:xfrm>
          <a:prstGeom prst="roundRect">
            <a:avLst>
              <a:gd name="adj" fmla="val 13158"/>
            </a:avLst>
          </a:prstGeom>
          <a:solidFill>
            <a:srgbClr val="F7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4517136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4517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480560"/>
            <a:ext cx="1028974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change from the example?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3158"/>
            </a:avLst>
          </a:prstGeom>
          <a:solidFill>
            <a:srgbClr val="F7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713232" y="5394960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5358384"/>
            <a:ext cx="1028974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improve next?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 · YOUR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Weekend Assignment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three HTML + CSS projects.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1525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  <a:effectLst>
            <a:outerShdw sx="100000" sy="100000" kx="0" ky="0" algn="bl" rotWithShape="0" blurRad="152400" dist="50800" dir="5400000">
              <a:srgbClr val="6C5CE7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2532888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6384" y="2916936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Card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8218" y="1691640"/>
            <a:ext cx="351525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  <a:effectLst>
            <a:outerShdw sx="100000" sy="100000" kx="0" ky="0" algn="bl" rotWithShape="0" blurRad="152400" dist="50800" dir="5400000">
              <a:srgbClr val="6C5CE7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4250" y="1947672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459425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5962" y="2532888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5962" y="2916936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Landing Page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27797" y="1691640"/>
            <a:ext cx="351525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  <a:effectLst>
            <a:outerShdw sx="100000" sy="100000" kx="0" ky="0" algn="bl" rotWithShape="0" blurRad="152400" dist="50800" dir="5400000">
              <a:srgbClr val="6C5CE7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3829" y="1947672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7" name="Text 15"/>
          <p:cNvSpPr/>
          <p:nvPr/>
        </p:nvSpPr>
        <p:spPr>
          <a:xfrm>
            <a:off x="8383829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5541" y="2532888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5541" y="2916936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11094415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E4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922776"/>
            <a:ext cx="106920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— for Each Project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9808" y="4251960"/>
            <a:ext cx="10692079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 repository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website if possible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Screenshot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Short explanation of what you built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3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CLOSE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874520"/>
            <a:ext cx="1109441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Just Learn Code.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With It.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463040" y="3429000"/>
            <a:ext cx="92656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you complete becomes evidence of what you can 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898648" y="402336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F2340"/>
          </a:solidFill>
          <a:ln/>
        </p:spPr>
      </p:sp>
      <p:sp>
        <p:nvSpPr>
          <p:cNvPr id="6" name="Text 4"/>
          <p:cNvSpPr/>
          <p:nvPr/>
        </p:nvSpPr>
        <p:spPr>
          <a:xfrm>
            <a:off x="2971800" y="4023360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44568" y="402336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F2340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4023360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0488" y="402336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F2340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4023360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36408" y="402336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F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7909560" y="4023360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4800600"/>
            <a:ext cx="9265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know everything before you start building.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55848" y="53492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F2340"/>
          </a:solidFill>
          <a:ln/>
        </p:spPr>
      </p:sp>
      <p:sp>
        <p:nvSpPr>
          <p:cNvPr id="15" name="Text 13"/>
          <p:cNvSpPr/>
          <p:nvPr/>
        </p:nvSpPr>
        <p:spPr>
          <a:xfrm>
            <a:off x="3355848" y="53492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— JAVASCRIPT   </a:t>
            </a:r>
            <a:pPr algn="ctr" indent="0" marL="0">
              <a:buNone/>
            </a:pPr>
            <a:r>
              <a:rPr lang="en-US" sz="1200" dirty="0">
                <a:solidFill>
                  <a:srgbClr val="E9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make our websites interactive.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F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· WEEK 2 · SESSION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2026-08-14T07:47:25Z</dcterms:created>
  <dcterms:modified xsi:type="dcterms:W3CDTF">2026-08-14T07:47:25Z</dcterms:modified>
</cp:coreProperties>
</file>